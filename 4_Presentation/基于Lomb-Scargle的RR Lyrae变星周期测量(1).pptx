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6" r:id="rId9"/>
    <p:sldId id="267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8" d="100"/>
          <a:sy n="88" d="100"/>
        </p:scale>
        <p:origin x="72" y="336"/>
      </p:cViewPr>
      <p:guideLst>
        <p:guide orient="horz" pos="161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大家好，今天我将向大家汇报一项关于如何精确测量一种特殊恒星——RR Lyrae变星脉动周期的研究。这项研究聚焦于如何处理天文学中常见的不均匀采样数据，并对比了不同分析方法的优劣。希望通过这次分享，能让大家对这一领域有更深入的了解。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本次汇报将分为四个部分。首先，我将介绍我们研究的背景以及面临的科学挑战。接着，会详细介绍我们的研究对象RR Lyrae变星，以及我们采用的核心解决方案——Lomb-Scargle方法。第三部分，我将展示我们的实验流程和关键的分析结果。最后，通过与传统方法的比较，总结本研究的结论并对未来工作进行展望。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首先，让我们了解一下研究的对象——RR Lyrae变星。它们是宇宙中非常重要的“标准烛光”，帮助我们丈量宇宙的距离。但在实际观测中，我们得到的数据往往是断断续续的，就像一张被撕毁的日历。这使得我们常用的数据分析工具，比如FFT，变得不再可靠。那么，面对这个挑战，我们该如何准确地找到恒星的脉动周期呢？这就是我们这项研究要解决的核心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在深入探讨数据分析方法之前，让我们更近距离地了解我们的研究对象——RR Lyrae变星。它们之所以被称为“标准烛光”，是因为它们的内在亮度非常稳定。这就像我们知道一个灯泡的实际瓦数，然后通过它看起来的亮度，就能判断出它离我们有多远。天文学家正是利用这一点，来测量遥远天体的距离。左边这张壮丽的图片是球状星团M3，它是一个包含数十万颗恒星的古老星团，也是一个RR Lyrae变星的聚集地，是我们研究这类恒星的绝佳样本。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，就是采用Lomb-Scargle方法。您可以把它想象成一种智能的曲线拟合工具。它不像FFT那样对数据格式有苛刻要求，而是直接在我们观测到的零散数据点上，尝试用不同频率的正弦波去拟合，找到那个拟合得最好的频率，这个频率对应的就是恒星的脉动周期。这种方法的最大好处是，它尊重我们原始数据的真实性，避免了因强行‘补齐’数据而产生的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流程非常清晰。首先，我们获取并整理了公开的恒星亮度数据。然后，我们应用Lomb-Scargle算法，计算出一个‘功率谱’，从中找到最强的信号，也就是恒星的周期。为了验证这个周期是否正确，我们进行了‘相位折叠’，相当于把记录了好几年的亮度变化，按照我们找到的周期，全部叠放到一个周期的时间轴上。如果周期正确，这些点就会形成一条清晰的曲线。最后，我们还把这个方法和传统的FFT方法做了对比，以展示它的优越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4AE1B-A00C-FCB0-2036-336F9546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522A4-4323-CDF4-53C9-E171E80C8C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481AE5-97B8-C23A-6412-A376AE9B948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84998DE-99E0-9D94-9938-CCB2DDC562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BDAA935-75C8-018F-B9E2-C4F0690D6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流程非常清晰。首先，我们获取并整理了公开的恒星亮度数据。然后，我们应用Lomb-Scargle算法，计算出一个‘功率谱’，从中找到最强的信号，也就是恒星的周期。为了验证这个周期是否正确，我们进行了‘相位折叠’，相当于把记录了好几年的亮度变化，按照我们找到的周期，全部叠放到一个周期的时间轴上。如果周期正确，这些点就会形成一条清晰的曲线。最后，我们还把这个方法和传统的FFT方法做了对比，以展示它的优越性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EC314-6734-5C60-9AEE-AEF8FC5E49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7B563-9830-9053-93DC-07653B53E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15862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D4ACB-63B5-9650-36C8-EBC9771D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1886D4-5E63-C115-8E3B-B1C9E904B4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F9776B-07E6-B080-25F6-0D5DE7521D1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D222E4E-BE87-AA59-C129-98B3C9F32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0A551C6-6F1B-9FEC-7A15-8E8D061A0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流程非常清晰。首先，我们获取并整理了公开的恒星亮度数据。然后，我们应用Lomb-Scargle算法，计算出一个‘功率谱’，从中找到最强的信号，也就是恒星的周期。为了验证这个周期是否正确，我们进行了‘相位折叠’，相当于把记录了好几年的亮度变化，按照我们找到的周期，全部叠放到一个周期的时间轴上。如果周期正确，这些点就会形成一条清晰的曲线。最后，我们还把这个方法和传统的FFT方法做了对比，以展示它的优越性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7AC2F-7ABB-6679-2958-BF4360DA12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B0639-33F7-F4B5-4CA6-95C7EB706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5425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分析的第一步结果。左边是恒星原始的亮度数据，可以看到亮度在不断波动，但具体的周期是多少并不直观。于是，我们用Lomb-Scargle方法进行分析，得到了右边的功率谱图。图中出现了一个非常显著的尖峰，这就是最佳脉动频率的信号。通过计算，我们确定这个峰值对应的脉动周期约为0.682022天，也就是大约16.37小时，这与RR Lyrae变星0.2至1天的典型周期范围完全吻合，结果非常合理。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找到周期后，我们还需要验证它是否正确。这就是相位折叠图的作用。我们把所有观测数据，按照0.682天的周期，像绕线一样缠绕起来。结果令人非常满意！大家可以看到，成千上万的数据点完美地排列成了一条连续的曲线，清晰地展示了恒星从最亮到最暗，再回到最亮的完整过程。这雄辩地证明了，我们用Lomb-Scargle方法找到的周期是准确无误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进一步证明Lomb-Scargle方法的优势，我们将它与传统的FFT方法进行了正面比较。这张图展示了对一批恒星进行分析的结果。理想情况下，两种方法的结果应该完全一致，所有点都落在这条红色虚线上。我们可以看到，FFT的结果有明显的偏离，而Lomb-Scargle的结果则更集中，更稳定。这说明，面对真实世界中不完美的数据，Lomb-Scargle是一个更值得信赖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最后，总结一下我们的工作。我们成功地运用Lomb-Scargle方法，解决了天文数据不均匀采样带来的难题，准确地测量出了RR Lyrae变星的脉动周期。我们的研究证明，相比传统方法，Lomb-Scargle是一个更强大、更可靠的工具。展望未来，我们希望能将这套分析流程扩展到更多类型的恒星，并结合人工智能技术，让计算机自动完成海量数据的分析工作，帮助我们更快地探索宇宙的奥秘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14.svg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2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13.sv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2.sv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2.jpe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notesSlide" Target="../notesSlides/notesSlide6.xml"/><Relationship Id="rId27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.jpe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5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9.svg"/><Relationship Id="rId4" Type="http://schemas.openxmlformats.org/officeDocument/2006/relationships/image" Target="../media/image26.svg"/><Relationship Id="rId9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81000" y="2603500"/>
            <a:ext cx="1143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基于Lomb-Scargle周期分析的RR Lyrae变星脉动周期测量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556000" y="4381500"/>
            <a:ext cx="5080000" cy="25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1000" y="4699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一项针对天文不均匀采样时间序列的分析方法研究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5715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何伟文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|   日期：2026年7月1日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22225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研究背景与科学问题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418">
            <a:off x="1079509" y="2787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29845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探索宇宙的“标准烛光”，剖析海量天文数据处理中面临的信噪比低、周期信号隐匿等核心挑战。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500" y="22225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研究对象与解决方案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418">
            <a:off x="6540509" y="2787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29845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 RR Lyrae 变星这一关键天体，引入 Lomb-Scargle 周期图法，作为处理非均匀采样数据的核心方案。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76200" cy="1714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79500" y="43815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实验流程与关键结果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418">
            <a:off x="1079509" y="494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79500" y="51435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展示从数据获取、预处理到周期检测的完整实验路径，验证方法在变星周期提取上的准确性与稳定性。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23000" y="4191000"/>
            <a:ext cx="76200" cy="1714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540500" y="43815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方法比较与结论展望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418">
            <a:off x="6540509" y="494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540500" y="51435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 Lomb-Scargle 与传统 FFT 方法的性能差异，总结研究成果并探讨该技术在未来巡天项目中的应用潜力。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宇宙的“标准烛光”与数据分析的挑战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85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什么是 RR Lyrae 变星？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921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这是一类特殊的脉动变星，其亮度会像心跳一样发生周期性的涨落变化。它们在赫罗图上位于水平分支的位置，是老年恒星演化到特定阶段的产物。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318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因其绝对亮度极其稳定，被天文学家誉为宇宙的“标准烛光”，是测量银河系结构、球状星团距离乃至探索宇宙大尺度结构的关键标尺。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1778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4500" y="1968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02500" y="1841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现实困境：不均匀的观测采样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受天气、昼夜交替及望远镜排期限制，亮度数据在时间维度上呈现严重的不连续、非均匀特征。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04000" y="3048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500" y="3238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02500" y="3111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传统壁垒：FFT 的严苛前提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经典周期分析工具（如FFT）要求数据“等时间间隔”采样，与真实观测数据特性相冲突。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604000" y="4318000"/>
            <a:ext cx="4826635" cy="1397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6400" y="44704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75500" y="4445000"/>
            <a:ext cx="425513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直接后果：失真与伪峰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强行应用FFT会引发“频谱泄漏”，产生伪峰，无法还原真实周期。</a:t>
            </a:r>
          </a:p>
        </p:txBody>
      </p:sp>
      <p:cxnSp>
        <p:nvCxnSpPr>
          <p:cNvPr id="19" name="Connector 19"/>
          <p:cNvCxnSpPr/>
          <p:nvPr/>
        </p:nvCxnSpPr>
        <p:spPr>
          <a:xfrm rot="-4092">
            <a:off x="762004" y="596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855F7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762000" y="609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如何突破非均匀采样的限制，准确提取 RR Lyrae 变星的真实周期，成为了当前时域天文学数据处理的核心难题。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14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研究对象：宇宙的“标准烛光”——RR Lyrae变星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5334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哈勃望远镜拍摄的球状星团M3，数十万颗恒星密集聚集。这里已发现超过170颗RR Lyrae变星，是研究这类恒星物理特性的理想天然实验室。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90450">
            <a:off x="355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855F7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0" y="1778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85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什么是RR Lyrae变星？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185">
            <a:off x="6096008" y="2279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603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540500" y="2565400"/>
            <a:ext cx="514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恒星演化的“心跳”：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它们是处于演化末期的脉动变星，亮度会像心跳一样发生周期性变化，其光变周期通常在0.2到1天之间。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3683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540500" y="3644900"/>
            <a:ext cx="514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稳定的“量天尺”：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RR Lyrae变星的绝对星等极其稳定，天文学家通过观测其视星等，结合周光关系，就能精确计算出它们与地球的距离。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185">
            <a:off x="6096008" y="4819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096000" y="5080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23000" y="5207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作为宇宙中最可靠的“标准烛光”之一，它们是测绘银河系结构、测定球状星团距离，乃至探索宇宙大尺度结构的关键工具。</a:t>
            </a:r>
            <a:endParaRPr lang="en-US" sz="1100"/>
          </a:p>
        </p:txBody>
      </p:sp>
      <p:pic>
        <p:nvPicPr>
          <p:cNvPr id="16" name="图片 15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279525"/>
            <a:ext cx="4632960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为不均匀数据而生：Lomb-Scargle周期图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460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1447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核心分析思想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02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15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</a:t>
            </a:r>
            <a:r>
              <a:rPr lang="en-US" sz="12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不均匀采样时间序列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设计，摒弃等间隔依赖。通过在不同频率下对原始数据进行</a:t>
            </a:r>
            <a:r>
              <a:rPr lang="en-US" sz="12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最小二乘正弦拟合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，精准锁定最能解释数据波动的核心频率，还原天体真实的周期信号。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270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460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18100" y="1447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技术显著优势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02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215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无需插值处理，直接利用原始观测数据，规避信息丢失与误差引入；在稀疏/不均匀数据下，比FFT更精准识别周期；是天文学光变曲线分析的行业标准工具。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270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460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37600" y="1447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高效工具栈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02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215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采用Python编程语言，深度集成</a:t>
            </a:r>
            <a:r>
              <a:rPr lang="en-US" sz="12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Astropy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天文计算库实现Lomb-Scargle算法，兼顾计算效率与可靠性，为海量天文数据提供稳定、精准的自动化周期搜索能力。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937000"/>
            <a:ext cx="1066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光变曲线模型：</a:t>
            </a: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y(t) = A·cos(ωt) + B·sin(ωt) + C</a:t>
            </a: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说明：A, B为拟合振幅，C为平均亮度，ω=2πf为角频率。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Lomb-Scargle功率谱：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P(ω) = ½·[ (Σyᵢcosω(tᵢ-τ))²/Σcos²ω(tᵢ-τ) + (Σyᵢsinω(tᵢ-τ))²/Σsin²ω(tᵢ-τ) ]</a:t>
            </a: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说明：通过最小二乘法拟合，找到使功率P(ω)最大的角频率ω。</a:t>
            </a:r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相位校正项：</a:t>
            </a: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tan(2ωτ) = Σsin(2ωtᵢ) / Σcos(2ωtᵢ)</a:t>
            </a: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说明：τ是为非等间隔数据引入的相位校正，使功率谱的定义更加对称。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总结：Lomb-Scargle方法尊重原始观测的真实性，是破解天文学不均匀采样数据周期分析难题的关键技术。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从数据到结论：我们的分析步骤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905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18181A"/>
          </a:solidFill>
          <a:ln>
            <a:solidFill>
              <a:srgbClr val="7030A0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525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460500" y="2184400"/>
            <a:ext cx="1651000" cy="558800"/>
          </a:xfrm>
          <a:prstGeom prst="rect">
            <a:avLst/>
          </a:prstGeom>
          <a:solidFill>
            <a:srgbClr val="18181A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数据获取与预处理</a:t>
            </a:r>
            <a:endParaRPr lang="en-US" sz="1100" dirty="0"/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20221">
            <a:off x="952519" y="2978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952500" y="3175000"/>
            <a:ext cx="215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从Kepler等公开数据库获取RR Lyrae变星光变数据，执行严格的数据清洗流程，剔除异常野值与缺失记录，为后续分析建立高质量数据集。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3492500" y="1905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18181A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683000" y="222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4191000" y="21844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周期算法计算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9"/>
            </p:custDataLst>
          </p:nvPr>
        </p:nvCxnSpPr>
        <p:spPr>
          <a:xfrm rot="-20221">
            <a:off x="3683019" y="2978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3683000" y="3175000"/>
            <a:ext cx="215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利用Astropy库设定科学的频率搜索范围，计算Lomb-Scargle功率谱，定位功率谱中峰值最高的频率点，该频率即为恒星的最佳脉动周期。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6223000" y="1905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13500" y="2222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6921500" y="21844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相位折叠验证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14"/>
            </p:custDataLst>
          </p:nvPr>
        </p:nvCxnSpPr>
        <p:spPr>
          <a:xfrm rot="-20221">
            <a:off x="6413519" y="2978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6413500" y="3175000"/>
            <a:ext cx="215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将所有观测时间点映射至0-1的相位区间，绘制相位折叠图。若周期准确，离散的观测点将汇聚成一条连续、光滑的光变曲线，验证结果可靠性。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8953500" y="1905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44000" y="2222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9652000" y="21844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方法比较分析</a:t>
            </a:r>
            <a:endParaRPr lang="en-US" sz="1100"/>
          </a:p>
        </p:txBody>
      </p:sp>
      <p:cxnSp>
        <p:nvCxnSpPr>
          <p:cNvPr id="22" name="Connector 22"/>
          <p:cNvCxnSpPr/>
          <p:nvPr>
            <p:custDataLst>
              <p:tags r:id="rId19"/>
            </p:custDataLst>
          </p:nvPr>
        </p:nvCxnSpPr>
        <p:spPr>
          <a:xfrm rot="-20221">
            <a:off x="9144019" y="2978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9144000" y="3175000"/>
            <a:ext cx="215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同步使用经典FFT方法分析同源数据，对比两种算法的结果差异。重点评估Lomb-Scargle在处理天文观测中常见的不均匀采样数据时的鲁棒性优势。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10922000" cy="6985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52500" y="5943600"/>
            <a:ext cx="1054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通过标准化的四步流程，我们从原始观测数据出发，利用Lomb-Scargle算法精准提取变星周期，并以严谨的验证和对比分析确保结论的科学性。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8F6E3-4C87-1B4D-90E5-99758C78E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AutoShape 9">
            <a:extLst>
              <a:ext uri="{FF2B5EF4-FFF2-40B4-BE49-F238E27FC236}">
                <a16:creationId xmlns:a16="http://schemas.microsoft.com/office/drawing/2014/main" id="{EAAE3500-6E21-6F84-6B55-E32290EB4A7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700155" y="2194872"/>
            <a:ext cx="2540000" cy="3556000"/>
          </a:xfrm>
          <a:prstGeom prst="roundRect">
            <a:avLst>
              <a:gd name="adj" fmla="val 0"/>
            </a:avLst>
          </a:prstGeom>
          <a:solidFill>
            <a:srgbClr val="18181A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1" name="AutoShape 4">
            <a:extLst>
              <a:ext uri="{FF2B5EF4-FFF2-40B4-BE49-F238E27FC236}">
                <a16:creationId xmlns:a16="http://schemas.microsoft.com/office/drawing/2014/main" id="{1C9F0EAE-69FA-1306-0936-062C89CF5C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13801" y="2166257"/>
            <a:ext cx="2540000" cy="3556000"/>
          </a:xfrm>
          <a:prstGeom prst="roundRect">
            <a:avLst>
              <a:gd name="adj" fmla="val 0"/>
            </a:avLst>
          </a:prstGeom>
          <a:solidFill>
            <a:srgbClr val="18181A"/>
          </a:solidFill>
          <a:ln>
            <a:solidFill>
              <a:srgbClr val="7030A0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9">
            <a:extLst>
              <a:ext uri="{FF2B5EF4-FFF2-40B4-BE49-F238E27FC236}">
                <a16:creationId xmlns:a16="http://schemas.microsoft.com/office/drawing/2014/main" id="{8816FF97-3CEA-83F4-3CBB-52CC1CB3315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71584" y="2162052"/>
            <a:ext cx="2540000" cy="3556000"/>
          </a:xfrm>
          <a:prstGeom prst="roundRect">
            <a:avLst>
              <a:gd name="adj" fmla="val 0"/>
            </a:avLst>
          </a:prstGeom>
          <a:solidFill>
            <a:srgbClr val="18181A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7A4C00D-0E11-7231-7EEC-4F1422F75E29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RR Lyrae</a:t>
            </a:r>
            <a:r>
              <a:rPr lang="zh-CN" altLang="en-US" sz="32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自动分析系统设计</a:t>
            </a: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B2F5FDC2-54BD-3E68-2F16-844D424C34E7}"/>
              </a:ext>
            </a:extLst>
          </p:cNvPr>
          <p:cNvSpPr txBox="1"/>
          <p:nvPr/>
        </p:nvSpPr>
        <p:spPr>
          <a:xfrm>
            <a:off x="1493485" y="2539668"/>
            <a:ext cx="2560316" cy="280076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/>
            </a:pPr>
            <a:r>
              <a:rPr sz="16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Kepler FITS</a:t>
            </a:r>
          </a:p>
          <a:p>
            <a:pPr algn="ctr">
              <a:defRPr sz="2000"/>
            </a:pPr>
            <a:r>
              <a:rPr sz="16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↓</a:t>
            </a:r>
          </a:p>
          <a:p>
            <a:pPr algn="ctr">
              <a:defRPr sz="2000"/>
            </a:pPr>
            <a:r>
              <a:rPr sz="1600" b="1" dirty="0" err="1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数据预处理</a:t>
            </a:r>
            <a:endParaRPr sz="1600" b="1" dirty="0">
              <a:solidFill>
                <a:schemeClr val="bg1"/>
              </a:solidFill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algn="ctr">
              <a:defRPr sz="2000"/>
            </a:pPr>
            <a:r>
              <a:rPr sz="16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↓</a:t>
            </a:r>
          </a:p>
          <a:p>
            <a:pPr algn="ctr">
              <a:defRPr sz="2000"/>
            </a:pPr>
            <a:r>
              <a:rPr sz="16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Lomb–</a:t>
            </a:r>
            <a:r>
              <a:rPr sz="1600" b="1" dirty="0" err="1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Scargle周期分析</a:t>
            </a:r>
            <a:endParaRPr sz="1600" b="1" dirty="0">
              <a:solidFill>
                <a:schemeClr val="bg1"/>
              </a:solidFill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algn="ctr">
              <a:defRPr sz="2000"/>
            </a:pPr>
            <a:r>
              <a:rPr sz="16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↙        ↘</a:t>
            </a:r>
          </a:p>
          <a:p>
            <a:pPr algn="ctr">
              <a:defRPr sz="2000"/>
            </a:pPr>
            <a:r>
              <a:rPr sz="1600" b="1" dirty="0" err="1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FFT分析</a:t>
            </a:r>
            <a:r>
              <a:rPr sz="16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    Phase Folding</a:t>
            </a:r>
          </a:p>
          <a:p>
            <a:pPr algn="ctr">
              <a:defRPr sz="2000"/>
            </a:pPr>
            <a:r>
              <a:rPr sz="16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↓</a:t>
            </a:r>
          </a:p>
          <a:p>
            <a:pPr algn="ctr">
              <a:defRPr sz="2000"/>
            </a:pPr>
            <a:r>
              <a:rPr sz="1600" b="1" dirty="0" err="1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周期比较与验证</a:t>
            </a:r>
            <a:endParaRPr sz="1600" b="1" dirty="0">
              <a:solidFill>
                <a:schemeClr val="bg1"/>
              </a:solidFill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algn="ctr">
              <a:defRPr sz="2000"/>
            </a:pPr>
            <a:r>
              <a:rPr sz="16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↓</a:t>
            </a:r>
          </a:p>
          <a:p>
            <a:pPr algn="ctr">
              <a:defRPr sz="2000"/>
            </a:pPr>
            <a:r>
              <a:rPr sz="1600" b="1" dirty="0" err="1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自动生成PNG</a:t>
            </a:r>
            <a:r>
              <a:rPr sz="16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 / CSV / TXT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71B6F98-8145-13E5-F984-64EE58433E02}"/>
              </a:ext>
            </a:extLst>
          </p:cNvPr>
          <p:cNvSpPr txBox="1"/>
          <p:nvPr/>
        </p:nvSpPr>
        <p:spPr>
          <a:xfrm>
            <a:off x="4996900" y="2242219"/>
            <a:ext cx="2498569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main.py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↓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preprocess.py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↓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lomb_scargle.py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↓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fft_analysis.py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↓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phase_fold.py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↓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plot.py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↓</a:t>
            </a:r>
          </a:p>
          <a:p>
            <a:pPr algn="ctr" defTabSz="457200">
              <a:defRPr sz="2000"/>
            </a:pP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report.py</a:t>
            </a:r>
          </a:p>
          <a:p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A0E0FC7-D589-7E70-5BDE-A3F95D8D9BF5}"/>
              </a:ext>
            </a:extLst>
          </p:cNvPr>
          <p:cNvSpPr txBox="1"/>
          <p:nvPr/>
        </p:nvSpPr>
        <p:spPr>
          <a:xfrm>
            <a:off x="8816270" y="2242219"/>
            <a:ext cx="209288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 sz="2000"/>
            </a:pP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自动批量处理：读取目录全部</a:t>
            </a: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FITS</a:t>
            </a:r>
          </a:p>
          <a:p>
            <a:pPr algn="ctr" defTabSz="457200">
              <a:defRPr sz="2000"/>
            </a:pP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数据预处理：去除</a:t>
            </a:r>
            <a:r>
              <a:rPr lang="en-US" altLang="zh-CN" sz="1600" b="1" kern="1200" dirty="0" err="1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NaN</a:t>
            </a: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和异常值</a:t>
            </a:r>
          </a:p>
          <a:p>
            <a:pPr algn="ctr" defTabSz="457200">
              <a:defRPr sz="2000"/>
            </a:pP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双算法分析：</a:t>
            </a: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LS+FFT</a:t>
            </a:r>
          </a:p>
          <a:p>
            <a:pPr algn="ctr" defTabSz="457200">
              <a:defRPr sz="2000"/>
            </a:pP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周期验证：</a:t>
            </a: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Phase Folding</a:t>
            </a:r>
          </a:p>
          <a:p>
            <a:pPr algn="ctr" defTabSz="457200">
              <a:defRPr sz="2000"/>
            </a:pP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自动报告：</a:t>
            </a: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PNG</a:t>
            </a: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、</a:t>
            </a: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CSV</a:t>
            </a: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、</a:t>
            </a: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TXT</a:t>
            </a:r>
          </a:p>
          <a:p>
            <a:pPr algn="ctr" defTabSz="457200">
              <a:defRPr sz="2000"/>
            </a:pP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文献比较：</a:t>
            </a: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Relative Error</a:t>
            </a:r>
          </a:p>
          <a:p>
            <a:pPr algn="ctr" defTabSz="457200">
              <a:defRPr sz="2000"/>
            </a:pP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模块化：</a:t>
            </a: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8</a:t>
            </a: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个</a:t>
            </a:r>
            <a:r>
              <a:rPr lang="en-US" altLang="zh-CN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Python</a:t>
            </a:r>
            <a:r>
              <a:rPr lang="zh-CN" altLang="en-US" sz="1600" b="1" kern="12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+mn-cs"/>
              </a:rPr>
              <a:t>模块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797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5DA74F-041E-8F89-4D9E-7DF82424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461050E2-52F2-C436-C40B-7D3147FD446F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zh-CN" sz="32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Lomb–Scargle功率谱核心算法</a:t>
            </a:r>
            <a:endParaRPr lang="en-US" sz="3200" b="1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6C2E0E-3330-F160-8413-9300A9680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74" y="1328844"/>
            <a:ext cx="5120940" cy="514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10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锁定脉动节奏：从光变曲线到功率谱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90450">
            <a:off x="3810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9368" r="9368"/>
          <a:stretch>
            <a:fillRect/>
          </a:stretch>
        </p:blipFill>
        <p:spPr>
          <a:xfrm>
            <a:off x="762000" y="1651000"/>
            <a:ext cx="4953000" cy="2540000"/>
          </a:xfrm>
          <a:prstGeom prst="rect">
            <a:avLst/>
          </a:prstGeom>
          <a:noFill/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44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原始光变曲线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080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这张图展示了恒星在约1600天观测周期内的亮度变化数据。我们能直观看到亮度呈现出明显的周期性起伏趋势，但受限于观测采样的不均匀性，具体的脉动周期无法直接从原始数据中一目了然地确定。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l="9368" r="9368"/>
          <a:stretch>
            <a:fillRect/>
          </a:stretch>
        </p:blipFill>
        <p:spPr>
          <a:xfrm>
            <a:off x="6477000" y="1651000"/>
            <a:ext cx="4953000" cy="2540000"/>
          </a:xfrm>
          <a:prstGeom prst="rect">
            <a:avLst/>
          </a:prstGeom>
          <a:noFill/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477000" y="444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Lomb-Scargle 功率谱分析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5016500"/>
            <a:ext cx="495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en-US" sz="13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通过功率谱分析将时域信号转换至频域，图中出现了一个非常显著的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尖峰</a:t>
            </a:r>
            <a:r>
              <a:rPr lang="en-US" sz="13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，其对应的频率即为最佳脉动频率。通过计算，我们确定这个峰值对应的脉动周期为</a:t>
            </a:r>
            <a:r>
              <a:rPr lang="en-US" sz="1400" b="1" i="0" u="none" strike="noStrike" dirty="0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 ≈ 0.682022 天</a:t>
            </a:r>
            <a:r>
              <a:rPr lang="en-US" sz="13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（约16.37小时），</a:t>
            </a:r>
            <a:r>
              <a:rPr lang="zh-CN" altLang="en-US" sz="13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</a:t>
            </a: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KEPLER3733346</a:t>
            </a:r>
            <a:r>
              <a:rPr lang="zh-CN" altLang="en-US" sz="1300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</a:t>
            </a: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JM Nemec</a:t>
            </a:r>
            <a:r>
              <a:rPr lang="zh-CN" altLang="en-US" sz="1300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测得的</a:t>
            </a:r>
            <a:r>
              <a:rPr lang="en-US" altLang="zh-CN" sz="1300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0.682026</a:t>
            </a: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</a:t>
            </a:r>
            <a:r>
              <a:rPr lang="zh-CN" altLang="en-US" sz="1300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基本吻合</a:t>
            </a:r>
            <a:r>
              <a:rPr lang="en-US" sz="13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眼见为实：相位折叠验证周期准确性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7257" r="7257"/>
          <a:stretch>
            <a:fillRect/>
          </a:stretch>
        </p:blipFill>
        <p:spPr>
          <a:xfrm>
            <a:off x="762000" y="1905000"/>
            <a:ext cx="5207000" cy="3048000"/>
          </a:xfrm>
          <a:prstGeom prst="rect">
            <a:avLst/>
          </a:prstGeom>
          <a:noFill/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BEB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所有原本散乱的数据点，现在完美地汇聚成了一条连续、光滑、具有典型RR Lyrae特征（如‘驼峰’结构）的光变曲线。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889">
            <a:off x="4191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1905000"/>
            <a:ext cx="4826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500" y="2095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02500" y="2057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从“时间轴”到“相位轴”的重构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822">
            <a:off x="6794509" y="2597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794500" y="27305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我们将横轴从具体的观测日期转换为“相位”（0到2，覆盖两个完整周期）。这一变换让原本在时间轴上分散的数据点，惊人地收敛成一条具有典型RR Lyrae变星特征的、完整且光滑的光变曲线。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4191000"/>
            <a:ext cx="4826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4500" y="4381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02500" y="4343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周期准确性的“铁证”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822">
            <a:off x="6794509" y="4883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794500" y="50165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位折叠图的完美拟合，是对0.682天周期最有力的验证。如果周期存在哪怕很小的误差，这些数据点都会杂乱无章地分布，无法形成如此清晰且具有特征性的曲线。这标志着我们对恒星脉动周期的测量是精确无误的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强者对决：Lomb-Scargle vs. 传统FFT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0098" b="10098"/>
          <a:stretch>
            <a:fillRect/>
          </a:stretch>
        </p:blipFill>
        <p:spPr>
          <a:xfrm>
            <a:off x="762000" y="1905000"/>
            <a:ext cx="4826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图示为多颗RR Lyrae变星的周期测量结果对比。横轴为LS方法结果，纵轴为FFT方法结果，红色虚线代表理想的一致情况（y=x）。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3873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77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209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20574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数据样本与分析逻辑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046">
            <a:off x="6667508" y="2597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667500" y="27305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我们对多颗RR Lyrae变星进行了批量分析，对比LS与FFT的周期测量值。图中每个散点代表单颗恒星，若测量完全准确，所有点应完美贴合红色对角线，这为我们提供了直观的误差参考系。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38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43434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核心结论：LS方法更胜一筹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046">
            <a:off x="6667508" y="488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67500" y="4953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FFT的结果（红点）相对于对角线有更明显的离散和偏差，</a:t>
            </a: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最大偏差可达0.006天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。这表明在处理真实的、不均匀的天文数据时，</a:t>
            </a: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Lomb-Scargle方法给出的周期测量结果更稳定、更可靠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76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总结与未来方向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606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有效性验证：精准测周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基于Astropy库运用Lomb-Scargle方法，成功测得RR Lyrae变星脉动周期约0.682天，结果准确可靠。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329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5306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方法优越性：抗噪稳定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相位折叠与FFT对比分析表明，该方法在处理</a:t>
            </a:r>
            <a:r>
              <a:rPr lang="en-US" sz="13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不均匀采样数据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时，展现出更高的精度与稳定性。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1016009" y="456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699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6736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应用价值：巡天关键技术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为现代天文学大规模巡天数据的自动化处理提供了核心技术支撑。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2032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286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22606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算法扩展：多维对比研究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引入PDM、BLS等其他周期分析算法，与Lomb-Scargle进行多维度、全场景的性能比较与融合。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329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556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35306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数据扩展：覆盖更多天体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将该分析框架应用于造父变星、食双星等更多变星类型，验证方法的普适性与适应性。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291">
            <a:off x="6477009" y="456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699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46736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智能化：AI驱动自动分类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结合机器学习技术，实现海量数据的自动周期识别与恒星智能分类。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0" y="5969000"/>
            <a:ext cx="12192000" cy="889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DD4B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0" y="6032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谢谢大家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50,&quot;width&quot;:84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1274</Words>
  <Application>Microsoft Office PowerPoint</Application>
  <PresentationFormat>宽屏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cttp owl</cp:lastModifiedBy>
  <cp:revision>3</cp:revision>
  <dcterms:created xsi:type="dcterms:W3CDTF">2026-07-01T09:53:00Z</dcterms:created>
  <dcterms:modified xsi:type="dcterms:W3CDTF">2026-07-01T23:59:01Z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{"Label":"1","ContentProducer":"001191110102MACQD9K64010000","ProduceID":"7657493803687447526","ReservedCode1":"","ContentPropagator":"","PropagateID":"","ReservedCode2":""}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37F1D49302C04A7BB418169EF94487C1_13</vt:lpwstr>
  </property>
</Properties>
</file>